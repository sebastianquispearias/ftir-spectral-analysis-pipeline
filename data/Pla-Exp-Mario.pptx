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70" r:id="rId3"/>
    <p:sldId id="292" r:id="rId4"/>
    <p:sldId id="294" r:id="rId5"/>
    <p:sldId id="293" r:id="rId6"/>
    <p:sldId id="262" r:id="rId7"/>
    <p:sldId id="297" r:id="rId8"/>
    <p:sldId id="29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2" autoAdjust="0"/>
    <p:restoredTop sz="93969" autoAdjust="0"/>
  </p:normalViewPr>
  <p:slideViewPr>
    <p:cSldViewPr snapToGrid="0">
      <p:cViewPr>
        <p:scale>
          <a:sx n="75" d="100"/>
          <a:sy n="75" d="100"/>
        </p:scale>
        <p:origin x="612" y="-22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0BEBB6B-2012-B1D7-AAD7-516B877FCF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3BD4FBC-74B6-7E1F-750D-E559D02DB7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200774-7123-4F03-8F13-CB63330D4A8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E7BF4CA-D7C1-C601-8351-142E1687B5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ECA05C3-1651-6BA8-0BCA-61FEB78B28C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F3CEE-B357-4D2E-9660-5784F128F1F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716431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04CD7-06BE-4238-BA3E-A1A848A27FE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23E8AD-5F7E-49B5-A5F5-0E54BE4C395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80758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8A55A0-F8B8-453C-D325-EE4DD87F5D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1149351"/>
          </a:xfrm>
        </p:spPr>
        <p:txBody>
          <a:bodyPr>
            <a:normAutofit/>
          </a:bodyPr>
          <a:lstStyle>
            <a:lvl1pPr>
              <a:defRPr sz="35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PE" dirty="0"/>
              <a:t>Texto</a:t>
            </a:r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653DE7F-9820-C0A2-DD10-D7F1DB02C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7C6EC26-AF25-EF07-637C-0E3AEE0F5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2678C68-2E3D-B17D-1693-9968F8745D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A30E7B5-0134-4DEF-A6F4-BBA30C3E05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538DB0B-9F77-C6C5-826C-D5A4B0A7D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686D4-314B-4928-B147-F80911C799C4}" type="datetime1">
              <a:rPr lang="en-US" smtClean="0"/>
              <a:t>5/2/2026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1ABC50D-2116-0646-1F41-323E76048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736B0DB-1EE6-F2EF-5994-DF6CE2DC5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B3054-4A04-4E1C-948E-3672C20125F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189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06AAD-8DA3-D517-6086-57630B807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5385B9-BED9-A57A-25D8-1E6F43C8D6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B06BD3-4615-250A-D161-9BB42A47A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B0520-EAAD-4C01-8A93-E48E94CD2212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969CB1-144F-A749-F329-46C40AAC6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Imagem 7" descr="Logotipo, nome da empresa&#10;&#10;Descrição gerada automaticamente">
            <a:extLst>
              <a:ext uri="{FF2B5EF4-FFF2-40B4-BE49-F238E27FC236}">
                <a16:creationId xmlns:a16="http://schemas.microsoft.com/office/drawing/2014/main" id="{1711F682-271C-1BA3-A847-E9AD03A2C2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129" y="0"/>
            <a:ext cx="1659871" cy="1006474"/>
          </a:xfrm>
          <a:prstGeom prst="rect">
            <a:avLst/>
          </a:prstGeom>
        </p:spPr>
      </p:pic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4514616F-75ED-8B0E-7596-2D6DF4CF8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0000"/>
            <a:ext cx="2743200" cy="365125"/>
          </a:xfrm>
        </p:spPr>
        <p:txBody>
          <a:bodyPr/>
          <a:lstStyle>
            <a:lvl1pPr>
              <a:defRPr sz="1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14B3054-4A04-4E1C-948E-3672C20125FB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087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0190F3-0E7F-48FE-1DE0-0F94D8E11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49C238-92F0-7A2E-1D98-3B6BBBB85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478FE-AD90-4CC7-989F-96886EE403C4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692661-532C-8229-33EB-DF88A018E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Espaço Reservado para Número de Slide 5">
            <a:extLst>
              <a:ext uri="{FF2B5EF4-FFF2-40B4-BE49-F238E27FC236}">
                <a16:creationId xmlns:a16="http://schemas.microsoft.com/office/drawing/2014/main" id="{10BBCE25-35FD-6C92-55C5-943234175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14B3054-4A04-4E1C-948E-3672C20125FB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615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4B98FF-0499-9A69-EB63-6223D2466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074328E-C93E-9AE1-A042-22A131C3B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32C292-56BF-8789-9575-E1710A1F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4846B-6827-46D2-9FB8-7FD7D5B97AC1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02CA16-2214-F209-53BD-66CB45A0A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C779CB-0506-3EE0-062D-1D127B700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B3054-4A04-4E1C-948E-3672C20125F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133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55A75-0C73-EA19-C70A-4C8EAD83C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95F32C-76A3-2F14-261F-2F944088C4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6504D81-9276-F8C3-66D2-E93A4CB0A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1E0E6B-59CB-9869-C494-BEB89ED4B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C1F3C-28F5-4E97-8236-D225B37B324C}" type="datetime1">
              <a:rPr lang="en-US" smtClean="0"/>
              <a:t>5/2/2026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BAA209D-00A1-DEE5-01EF-E60BE965B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A038C0-976F-A850-9B83-DAF30E929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B3054-4A04-4E1C-948E-3672C20125F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277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8AB28D-DFB6-22D5-83BA-6866B5DCE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A21FC5-EBB4-9473-A033-A7B3F77A8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E429C-20EA-4105-9FD1-6964667B1510}" type="datetime1">
              <a:rPr lang="en-US" smtClean="0"/>
              <a:t>5/2/2026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0F8AB88-6CDC-2D7C-7D88-7A9150831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A927628-F142-C178-8B07-B0E210191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B3054-4A04-4E1C-948E-3672C20125F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632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DC0670B-9996-D00C-D12D-E7BBA54DB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EBB63-08A0-4DD7-AA7B-796644BE7BCD}" type="datetime1">
              <a:rPr lang="en-US" smtClean="0"/>
              <a:t>5/2/2026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E2A4C34-0511-D4FF-0D75-EF699F8FC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53189AD-F373-3A2B-AA79-003FD60B5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B3054-4A04-4E1C-948E-3672C20125F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00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FFAEF-DD01-AAFD-B3C7-6B4C23897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592A11-7089-7E40-3327-65088CB0F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CCA6005-22E4-59D0-6B99-59CE39FAF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5C893BA-2B23-122D-1CB5-700C15BD6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51A98-AF97-4DC1-9AF2-B19AE6B48595}" type="datetime1">
              <a:rPr lang="en-US" smtClean="0"/>
              <a:t>5/2/2026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DE020E-0184-EFFE-E7C8-38EB34A40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98EDA62-B2BA-E2E8-8089-057B01E4A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B3054-4A04-4E1C-948E-3672C20125F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60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ABF65A-E88F-90DE-E49A-DFF9AEB34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CDFB4D4-DC06-4733-E550-E6CBDB4130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45D1EF5-21F5-B41B-B985-AFBBF2827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A4E09B-DFDF-CAC2-5E53-522EC5E2C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406E2-3F91-42EE-9568-3839D73A6691}" type="datetime1">
              <a:rPr lang="en-US" smtClean="0"/>
              <a:t>5/2/2026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A2BC377-69EF-EF15-08AC-6452D821D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DA746F6-2F7C-1882-8C38-BB942848D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B3054-4A04-4E1C-948E-3672C20125F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465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3AF7E8-644A-5663-FDF5-A406AC3B3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E73141D-6920-710A-9EAE-355C60940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92F321-D3EE-E75F-73B4-DBCDC29B3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17735-34EE-45CF-BEF0-B986E2B5B7A1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8EFB9C-EBB9-46EC-1244-4A779AD30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A5AC5E-4099-1C87-5EC3-1EEDD7DD2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B3054-4A04-4E1C-948E-3672C20125F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11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08D61B-C745-B0CE-6CBA-DD72FEE54F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21C746D-42EB-BF05-7361-6C3F839F7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DF89DD-C2FD-04F3-7349-2545CBF4C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6ACBF-766D-4EBA-B68C-A7DE3FCB6576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CF00E8-9BCA-672F-081D-8F8E5FE13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48C4AA-7646-CC9C-4798-BA24DAF85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B3054-4A04-4E1C-948E-3672C20125F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32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12934-B168-D74B-8C6C-939CDE9A7C5C}" type="datetime1">
              <a:rPr lang="fr-FR" smtClean="0"/>
              <a:t>02/05/2026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455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5D2B545-17D7-A9DE-41BC-CE5AD4A42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7CF8E28-C220-8B5B-CCEC-ABFA608E8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7A9E66-CBEC-6F0F-7D64-5B13530163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02B3E4-36B6-4EE5-AEA5-6590FF1DBC95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52E261-FDD8-2DD2-C1C4-1A8B93DA99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37A644-869F-A803-0C03-4E83F17058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14B3054-4A04-4E1C-948E-3672C20125FB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143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AA40AD-666E-0C4D-CC22-372F7CBDB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B3054-4A04-4E1C-948E-3672C20125FB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5D195F7-792B-1D2C-297D-227047ED829D}"/>
              </a:ext>
            </a:extLst>
          </p:cNvPr>
          <p:cNvSpPr txBox="1"/>
          <p:nvPr/>
        </p:nvSpPr>
        <p:spPr>
          <a:xfrm>
            <a:off x="316480" y="2397530"/>
            <a:ext cx="116261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Otimização do Processo de Funcionalização de </a:t>
            </a:r>
            <a:r>
              <a:rPr lang="pt-B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nanofibras</a:t>
            </a:r>
            <a:r>
              <a:rPr lang="pt-B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celulose Usando Planejamento Experimental Box–</a:t>
            </a:r>
            <a:r>
              <a:rPr lang="pt-B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Behnken</a:t>
            </a:r>
            <a:endParaRPr lang="en-US" sz="3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B0DA298C-EBAE-691C-C16E-29037DAE6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758" y="-207822"/>
            <a:ext cx="2684128" cy="1342912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9AA0A8E7-3B13-A273-4C5D-2BAFCC60A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43832" cy="858982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4A0E7C26-F625-F4AA-2F7B-1BD993C280FA}"/>
              </a:ext>
            </a:extLst>
          </p:cNvPr>
          <p:cNvSpPr txBox="1"/>
          <p:nvPr/>
        </p:nvSpPr>
        <p:spPr>
          <a:xfrm>
            <a:off x="4382978" y="3851248"/>
            <a:ext cx="425949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Mario </a:t>
            </a:r>
            <a:r>
              <a:rPr lang="es-PE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Dayvid</a:t>
            </a:r>
            <a:r>
              <a:rPr lang="es-PE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Carbajal </a:t>
            </a:r>
            <a:r>
              <a:rPr lang="es-PE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Ccoyllo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C7C680D3-FC7B-3769-D354-10AEA61AA5AE}"/>
              </a:ext>
            </a:extLst>
          </p:cNvPr>
          <p:cNvSpPr txBox="1"/>
          <p:nvPr/>
        </p:nvSpPr>
        <p:spPr>
          <a:xfrm>
            <a:off x="316480" y="4739488"/>
            <a:ext cx="51699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2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Orientadora</a:t>
            </a:r>
            <a:r>
              <a:rPr lang="pt-BR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Profa. </a:t>
            </a:r>
            <a:r>
              <a:rPr lang="pt-BR" sz="25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Anupama</a:t>
            </a:r>
            <a:r>
              <a:rPr lang="pt-BR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5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Ghosh</a:t>
            </a:r>
            <a:endParaRPr lang="en-US" sz="25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931EA26-0F17-2B16-BA6E-F62DAB46CA7E}"/>
              </a:ext>
            </a:extLst>
          </p:cNvPr>
          <p:cNvSpPr txBox="1"/>
          <p:nvPr/>
        </p:nvSpPr>
        <p:spPr>
          <a:xfrm>
            <a:off x="449019" y="5261704"/>
            <a:ext cx="766444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2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Coorientador</a:t>
            </a:r>
            <a:r>
              <a:rPr lang="pt-BR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Prof. Rogério Navarro Correia de Siqueira </a:t>
            </a:r>
            <a:endParaRPr lang="en-US" sz="25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39691F72-A2C9-DCA5-36A4-BB41D806956A}"/>
              </a:ext>
            </a:extLst>
          </p:cNvPr>
          <p:cNvSpPr txBox="1"/>
          <p:nvPr/>
        </p:nvSpPr>
        <p:spPr>
          <a:xfrm>
            <a:off x="7415893" y="6052963"/>
            <a:ext cx="37610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Rio de Janeiro, 17 abril 2026</a:t>
            </a:r>
            <a:endParaRPr lang="en-US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BB5111D3-9E6E-4FB1-EA22-E31CE721A266}"/>
              </a:ext>
            </a:extLst>
          </p:cNvPr>
          <p:cNvSpPr txBox="1"/>
          <p:nvPr/>
        </p:nvSpPr>
        <p:spPr>
          <a:xfrm>
            <a:off x="0" y="996590"/>
            <a:ext cx="1219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en-US" sz="3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Departamento de Engenharia Química e de Materiais (DEQM)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en-US" sz="3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Pontifícia Universidade Católica do Rio de Janeiro</a:t>
            </a:r>
          </a:p>
        </p:txBody>
      </p:sp>
    </p:spTree>
    <p:extLst>
      <p:ext uri="{BB962C8B-B14F-4D97-AF65-F5344CB8AC3E}">
        <p14:creationId xmlns:p14="http://schemas.microsoft.com/office/powerpoint/2010/main" val="1862665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E3281397-C64D-DE27-BF0A-C21EDE54190D}"/>
              </a:ext>
            </a:extLst>
          </p:cNvPr>
          <p:cNvGrpSpPr/>
          <p:nvPr/>
        </p:nvGrpSpPr>
        <p:grpSpPr>
          <a:xfrm>
            <a:off x="349541" y="1331306"/>
            <a:ext cx="4767627" cy="5034021"/>
            <a:chOff x="349541" y="1331306"/>
            <a:chExt cx="4767627" cy="5034021"/>
          </a:xfrm>
        </p:grpSpPr>
        <p:grpSp>
          <p:nvGrpSpPr>
            <p:cNvPr id="2" name="Agrupar 1">
              <a:extLst>
                <a:ext uri="{FF2B5EF4-FFF2-40B4-BE49-F238E27FC236}">
                  <a16:creationId xmlns:a16="http://schemas.microsoft.com/office/drawing/2014/main" id="{634740F6-9319-88AD-4DEA-09E831D6A17B}"/>
                </a:ext>
              </a:extLst>
            </p:cNvPr>
            <p:cNvGrpSpPr/>
            <p:nvPr/>
          </p:nvGrpSpPr>
          <p:grpSpPr>
            <a:xfrm>
              <a:off x="349541" y="1455146"/>
              <a:ext cx="4767627" cy="4910181"/>
              <a:chOff x="2809443" y="822094"/>
              <a:chExt cx="5544848" cy="5213812"/>
            </a:xfrm>
          </p:grpSpPr>
          <p:pic>
            <p:nvPicPr>
              <p:cNvPr id="4" name="Picture 2">
                <a:extLst>
                  <a:ext uri="{FF2B5EF4-FFF2-40B4-BE49-F238E27FC236}">
                    <a16:creationId xmlns:a16="http://schemas.microsoft.com/office/drawing/2014/main" id="{14557D65-8C7B-75D1-5D7F-70756C25F5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09443" y="822094"/>
                <a:ext cx="5544848" cy="521381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F7EAB74-E109-5A3D-544D-AD2951A519F6}"/>
                  </a:ext>
                </a:extLst>
              </p:cNvPr>
              <p:cNvSpPr txBox="1"/>
              <p:nvPr/>
            </p:nvSpPr>
            <p:spPr>
              <a:xfrm>
                <a:off x="7509164" y="5347854"/>
                <a:ext cx="302395" cy="4248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PE" sz="2000" b="1" dirty="0">
                    <a:solidFill>
                      <a:srgbClr val="FF0000"/>
                    </a:solidFill>
                  </a:rPr>
                  <a:t>I</a:t>
                </a:r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B1AC4537-64DA-E57F-9E0C-DACABC2A573B}"/>
                  </a:ext>
                </a:extLst>
              </p:cNvPr>
              <p:cNvSpPr txBox="1"/>
              <p:nvPr/>
            </p:nvSpPr>
            <p:spPr>
              <a:xfrm>
                <a:off x="7509164" y="909981"/>
                <a:ext cx="390017" cy="4248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PE" sz="2000" b="1" dirty="0">
                    <a:solidFill>
                      <a:srgbClr val="FF0000"/>
                    </a:solidFill>
                  </a:rPr>
                  <a:t>II</a:t>
                </a:r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03117108-DA62-2EA7-630F-B4BBCB3CC2AE}"/>
                </a:ext>
              </a:extLst>
            </p:cNvPr>
            <p:cNvSpPr/>
            <p:nvPr/>
          </p:nvSpPr>
          <p:spPr>
            <a:xfrm>
              <a:off x="3406308" y="1331306"/>
              <a:ext cx="1319542" cy="916594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4C73497-9694-4335-C0FD-4446CC55E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B3054-4A04-4E1C-948E-3672C20125F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21DB42E-76B8-F635-188E-A5DB9DB343C2}"/>
              </a:ext>
            </a:extLst>
          </p:cNvPr>
          <p:cNvSpPr txBox="1"/>
          <p:nvPr/>
        </p:nvSpPr>
        <p:spPr>
          <a:xfrm>
            <a:off x="0" y="0"/>
            <a:ext cx="68008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FUNDAMENTAÇÃO TEÓRICA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C9E903E-CE8C-12CE-1254-FD9BB0223519}"/>
              </a:ext>
            </a:extLst>
          </p:cNvPr>
          <p:cNvSpPr txBox="1"/>
          <p:nvPr/>
        </p:nvSpPr>
        <p:spPr>
          <a:xfrm>
            <a:off x="-74033" y="763498"/>
            <a:ext cx="6165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pt-BR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1. Processo clássico de funcionalização das fibras de celulose</a:t>
            </a:r>
            <a:endParaRPr lang="pt-BR" sz="1800" b="1" dirty="0">
              <a:solidFill>
                <a:schemeClr val="dk1"/>
              </a:solidFill>
              <a:latin typeface="Times New Roman"/>
              <a:cs typeface="Times New Roman"/>
              <a:sym typeface="Calibri"/>
            </a:endParaRP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4ADA6ABC-4CC6-AC2E-A722-668608DA4867}"/>
              </a:ext>
            </a:extLst>
          </p:cNvPr>
          <p:cNvGrpSpPr/>
          <p:nvPr/>
        </p:nvGrpSpPr>
        <p:grpSpPr>
          <a:xfrm>
            <a:off x="152691" y="1718974"/>
            <a:ext cx="3253617" cy="1443591"/>
            <a:chOff x="5914159" y="1286420"/>
            <a:chExt cx="5969026" cy="2366183"/>
          </a:xfrm>
        </p:grpSpPr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5B63367F-A4B6-8894-8091-2415443B6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4159" y="1286420"/>
              <a:ext cx="5969026" cy="2366183"/>
            </a:xfrm>
            <a:prstGeom prst="rect">
              <a:avLst/>
            </a:prstGeom>
            <a:noFill/>
          </p:spPr>
        </p:pic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C3786024-22D0-864A-ACE1-F35EE095BEBC}"/>
                </a:ext>
              </a:extLst>
            </p:cNvPr>
            <p:cNvGrpSpPr/>
            <p:nvPr/>
          </p:nvGrpSpPr>
          <p:grpSpPr>
            <a:xfrm>
              <a:off x="7010400" y="1503936"/>
              <a:ext cx="2881868" cy="1925064"/>
              <a:chOff x="7010400" y="1503936"/>
              <a:chExt cx="2881868" cy="1925064"/>
            </a:xfrm>
          </p:grpSpPr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3CCF38FD-21BA-D50F-F4F3-CDCEEB5F398D}"/>
                  </a:ext>
                </a:extLst>
              </p:cNvPr>
              <p:cNvSpPr txBox="1"/>
              <p:nvPr/>
            </p:nvSpPr>
            <p:spPr>
              <a:xfrm>
                <a:off x="7010400" y="3028890"/>
                <a:ext cx="3209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PE" sz="2000" b="1" dirty="0">
                    <a:solidFill>
                      <a:srgbClr val="FF0000"/>
                    </a:solidFill>
                  </a:rPr>
                  <a:t>6</a:t>
                </a:r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BCF79917-B335-F351-AF34-BD6C08DF10A3}"/>
                  </a:ext>
                </a:extLst>
              </p:cNvPr>
              <p:cNvSpPr txBox="1"/>
              <p:nvPr/>
            </p:nvSpPr>
            <p:spPr>
              <a:xfrm>
                <a:off x="9571346" y="1503936"/>
                <a:ext cx="3209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PE" sz="2000" b="1" dirty="0">
                    <a:solidFill>
                      <a:srgbClr val="FF0000"/>
                    </a:solidFill>
                  </a:rPr>
                  <a:t>6</a:t>
                </a:r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p:grpSp>
      </p:grpSp>
      <p:pic>
        <p:nvPicPr>
          <p:cNvPr id="17" name="Imagem 16">
            <a:extLst>
              <a:ext uri="{FF2B5EF4-FFF2-40B4-BE49-F238E27FC236}">
                <a16:creationId xmlns:a16="http://schemas.microsoft.com/office/drawing/2014/main" id="{5A42F552-4A37-19BF-F58D-9A6B9C79C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381" y="1331306"/>
            <a:ext cx="7204219" cy="28895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294397B3-878A-2498-70DA-E75405184828}"/>
              </a:ext>
            </a:extLst>
          </p:cNvPr>
          <p:cNvSpPr txBox="1"/>
          <p:nvPr/>
        </p:nvSpPr>
        <p:spPr>
          <a:xfrm>
            <a:off x="7443934" y="4400044"/>
            <a:ext cx="32242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Biomacromolecules 13 (2012) 842–849.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1A1542F-DC0F-5D75-E0FB-2B99DB1ABF31}"/>
              </a:ext>
            </a:extLst>
          </p:cNvPr>
          <p:cNvSpPr txBox="1"/>
          <p:nvPr/>
        </p:nvSpPr>
        <p:spPr>
          <a:xfrm>
            <a:off x="125226" y="6407348"/>
            <a:ext cx="40593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Colloids Surf. A 289 (2006) 219–225.</a:t>
            </a:r>
          </a:p>
        </p:txBody>
      </p: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71F24C29-81B5-792E-CE87-A866E51D3D9D}"/>
              </a:ext>
            </a:extLst>
          </p:cNvPr>
          <p:cNvGrpSpPr/>
          <p:nvPr/>
        </p:nvGrpSpPr>
        <p:grpSpPr>
          <a:xfrm>
            <a:off x="5894389" y="5050973"/>
            <a:ext cx="5914002" cy="1386479"/>
            <a:chOff x="5997575" y="4706677"/>
            <a:chExt cx="5914002" cy="1386479"/>
          </a:xfrm>
        </p:grpSpPr>
        <p:grpSp>
          <p:nvGrpSpPr>
            <p:cNvPr id="35" name="Agrupar 34">
              <a:extLst>
                <a:ext uri="{FF2B5EF4-FFF2-40B4-BE49-F238E27FC236}">
                  <a16:creationId xmlns:a16="http://schemas.microsoft.com/office/drawing/2014/main" id="{EA932E1E-6E46-A603-B414-D71976661FFA}"/>
                </a:ext>
              </a:extLst>
            </p:cNvPr>
            <p:cNvGrpSpPr/>
            <p:nvPr/>
          </p:nvGrpSpPr>
          <p:grpSpPr>
            <a:xfrm>
              <a:off x="5997575" y="4706677"/>
              <a:ext cx="4096196" cy="307777"/>
              <a:chOff x="5997575" y="4706677"/>
              <a:chExt cx="4096196" cy="307777"/>
            </a:xfrm>
          </p:grpSpPr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1B29FF7F-7945-10B9-42C3-6A29E51BB061}"/>
                  </a:ext>
                </a:extLst>
              </p:cNvPr>
              <p:cNvSpPr/>
              <p:nvPr/>
            </p:nvSpPr>
            <p:spPr>
              <a:xfrm>
                <a:off x="5997575" y="4755736"/>
                <a:ext cx="196850" cy="213362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5A6C31E6-E7C8-C4AE-07B1-1365B47AE19D}"/>
                  </a:ext>
                </a:extLst>
              </p:cNvPr>
              <p:cNvSpPr txBox="1"/>
              <p:nvPr/>
            </p:nvSpPr>
            <p:spPr>
              <a:xfrm>
                <a:off x="6201359" y="4706677"/>
                <a:ext cx="389241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Cadeia de celulose (estrutura original não oxidada).</a:t>
                </a:r>
                <a:endParaRPr lang="en-US" sz="1400" dirty="0"/>
              </a:p>
            </p:txBody>
          </p:sp>
        </p:grpSp>
        <p:grpSp>
          <p:nvGrpSpPr>
            <p:cNvPr id="38" name="Agrupar 37">
              <a:extLst>
                <a:ext uri="{FF2B5EF4-FFF2-40B4-BE49-F238E27FC236}">
                  <a16:creationId xmlns:a16="http://schemas.microsoft.com/office/drawing/2014/main" id="{467067DB-7E11-321C-BE36-422A99909309}"/>
                </a:ext>
              </a:extLst>
            </p:cNvPr>
            <p:cNvGrpSpPr/>
            <p:nvPr/>
          </p:nvGrpSpPr>
          <p:grpSpPr>
            <a:xfrm>
              <a:off x="5997575" y="5785379"/>
              <a:ext cx="4855647" cy="307777"/>
              <a:chOff x="5997575" y="5785379"/>
              <a:chExt cx="4855647" cy="307777"/>
            </a:xfrm>
          </p:grpSpPr>
          <p:sp>
            <p:nvSpPr>
              <p:cNvPr id="27" name="Elipse 26">
                <a:extLst>
                  <a:ext uri="{FF2B5EF4-FFF2-40B4-BE49-F238E27FC236}">
                    <a16:creationId xmlns:a16="http://schemas.microsoft.com/office/drawing/2014/main" id="{63364DE2-6B5A-49F6-AAAC-41F7A0B6E0DB}"/>
                  </a:ext>
                </a:extLst>
              </p:cNvPr>
              <p:cNvSpPr/>
              <p:nvPr/>
            </p:nvSpPr>
            <p:spPr>
              <a:xfrm>
                <a:off x="5997575" y="5807669"/>
                <a:ext cx="196850" cy="213362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DB3F09B4-849A-AEA3-EA38-A7F2F5977486}"/>
                  </a:ext>
                </a:extLst>
              </p:cNvPr>
              <p:cNvSpPr txBox="1"/>
              <p:nvPr/>
            </p:nvSpPr>
            <p:spPr>
              <a:xfrm>
                <a:off x="6221890" y="5785379"/>
                <a:ext cx="463133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Grupos carboxilato (–COO⁻) formados pela oxidação TEMPO</a:t>
                </a:r>
                <a:endParaRPr lang="en-US" sz="1400" dirty="0"/>
              </a:p>
            </p:txBody>
          </p:sp>
        </p:grpSp>
        <p:grpSp>
          <p:nvGrpSpPr>
            <p:cNvPr id="37" name="Agrupar 36">
              <a:extLst>
                <a:ext uri="{FF2B5EF4-FFF2-40B4-BE49-F238E27FC236}">
                  <a16:creationId xmlns:a16="http://schemas.microsoft.com/office/drawing/2014/main" id="{2DA9C6B1-43A6-3BEE-8DC0-FDD0C4F13980}"/>
                </a:ext>
              </a:extLst>
            </p:cNvPr>
            <p:cNvGrpSpPr/>
            <p:nvPr/>
          </p:nvGrpSpPr>
          <p:grpSpPr>
            <a:xfrm>
              <a:off x="5997575" y="5366051"/>
              <a:ext cx="4413069" cy="307777"/>
              <a:chOff x="5997575" y="5366051"/>
              <a:chExt cx="4413069" cy="307777"/>
            </a:xfrm>
          </p:grpSpPr>
          <p:sp>
            <p:nvSpPr>
              <p:cNvPr id="28" name="Elipse 27">
                <a:extLst>
                  <a:ext uri="{FF2B5EF4-FFF2-40B4-BE49-F238E27FC236}">
                    <a16:creationId xmlns:a16="http://schemas.microsoft.com/office/drawing/2014/main" id="{4CABECF8-6434-FB5D-BFCD-728E349B241C}"/>
                  </a:ext>
                </a:extLst>
              </p:cNvPr>
              <p:cNvSpPr/>
              <p:nvPr/>
            </p:nvSpPr>
            <p:spPr>
              <a:xfrm>
                <a:off x="5997575" y="5428936"/>
                <a:ext cx="196850" cy="213362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D2CF155A-550A-0296-3AD6-404971CE9C0A}"/>
                  </a:ext>
                </a:extLst>
              </p:cNvPr>
              <p:cNvSpPr txBox="1"/>
              <p:nvPr/>
            </p:nvSpPr>
            <p:spPr>
              <a:xfrm>
                <a:off x="6194425" y="5366051"/>
                <a:ext cx="42162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Grupos aldeído C</a:t>
                </a:r>
                <a:r>
                  <a:rPr lang="pt-BR" sz="1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pt-B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(–CHO), intermediários da oxidação.</a:t>
                </a:r>
                <a:endParaRPr lang="en-US" sz="1400" dirty="0"/>
              </a:p>
            </p:txBody>
          </p:sp>
        </p:grpSp>
        <p:grpSp>
          <p:nvGrpSpPr>
            <p:cNvPr id="36" name="Agrupar 35">
              <a:extLst>
                <a:ext uri="{FF2B5EF4-FFF2-40B4-BE49-F238E27FC236}">
                  <a16:creationId xmlns:a16="http://schemas.microsoft.com/office/drawing/2014/main" id="{F384303A-EDEF-4A34-8F2B-C0F8B5D23E36}"/>
                </a:ext>
              </a:extLst>
            </p:cNvPr>
            <p:cNvGrpSpPr/>
            <p:nvPr/>
          </p:nvGrpSpPr>
          <p:grpSpPr>
            <a:xfrm>
              <a:off x="5997575" y="5044589"/>
              <a:ext cx="5914002" cy="307777"/>
              <a:chOff x="5997575" y="5044589"/>
              <a:chExt cx="5914002" cy="307777"/>
            </a:xfrm>
          </p:grpSpPr>
          <p:sp>
            <p:nvSpPr>
              <p:cNvPr id="29" name="Elipse 28">
                <a:extLst>
                  <a:ext uri="{FF2B5EF4-FFF2-40B4-BE49-F238E27FC236}">
                    <a16:creationId xmlns:a16="http://schemas.microsoft.com/office/drawing/2014/main" id="{4C927EF8-AABA-71EC-1F1B-79EB95D95B78}"/>
                  </a:ext>
                </a:extLst>
              </p:cNvPr>
              <p:cNvSpPr/>
              <p:nvPr/>
            </p:nvSpPr>
            <p:spPr>
              <a:xfrm>
                <a:off x="5997575" y="5085727"/>
                <a:ext cx="196850" cy="213362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CE1C807B-29C1-9120-072B-05403ED33B15}"/>
                  </a:ext>
                </a:extLst>
              </p:cNvPr>
              <p:cNvSpPr txBox="1"/>
              <p:nvPr/>
            </p:nvSpPr>
            <p:spPr>
              <a:xfrm>
                <a:off x="6201359" y="5044589"/>
                <a:ext cx="57102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Região desordenada oxidada, zona preferencial de clivagem e </a:t>
                </a:r>
                <a:r>
                  <a:rPr lang="pt-BR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nanofibrilação</a:t>
                </a:r>
                <a:endParaRPr lang="en-US" sz="14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61391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pt-BR" dirty="0"/>
              <a:t>Por que o design Box-</a:t>
            </a:r>
            <a:r>
              <a:rPr lang="pt-BR" dirty="0" err="1"/>
              <a:t>Behnken</a:t>
            </a:r>
            <a:r>
              <a:rPr lang="pt-BR" dirty="0"/>
              <a:t>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9216" y="1724485"/>
            <a:ext cx="5993567" cy="448243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pt-BR" dirty="0"/>
              <a:t>3 fatores, 3 níveis → 15 experimentos.</a:t>
            </a:r>
            <a:endParaRPr lang="fr-FR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F9CEAFA-E638-63C7-A528-B2CF4FD7F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172" y="2883370"/>
            <a:ext cx="7954739" cy="75001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96CD3806-7CFC-FEC6-333F-F045C739E9BD}"/>
              </a:ext>
            </a:extLst>
          </p:cNvPr>
          <p:cNvSpPr txBox="1"/>
          <p:nvPr/>
        </p:nvSpPr>
        <p:spPr>
          <a:xfrm>
            <a:off x="1981200" y="4219744"/>
            <a:ext cx="7098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/>
              <a:t>Muito adequado para otimização.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720D692-0ABE-DE93-EFFD-BC271FA76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2963C33-20DA-4E79-FFE8-B003E4D6A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80AE8476-A810-CC5B-6E7B-32BBC3D626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610416"/>
              </p:ext>
            </p:extLst>
          </p:nvPr>
        </p:nvGraphicFramePr>
        <p:xfrm>
          <a:off x="624114" y="715524"/>
          <a:ext cx="10929268" cy="5184416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561324">
                  <a:extLst>
                    <a:ext uri="{9D8B030D-6E8A-4147-A177-3AD203B41FA5}">
                      <a16:colId xmlns:a16="http://schemas.microsoft.com/office/drawing/2014/main" val="1453119234"/>
                    </a:ext>
                  </a:extLst>
                </a:gridCol>
                <a:gridCol w="1561324">
                  <a:extLst>
                    <a:ext uri="{9D8B030D-6E8A-4147-A177-3AD203B41FA5}">
                      <a16:colId xmlns:a16="http://schemas.microsoft.com/office/drawing/2014/main" val="2027378335"/>
                    </a:ext>
                  </a:extLst>
                </a:gridCol>
                <a:gridCol w="1561324">
                  <a:extLst>
                    <a:ext uri="{9D8B030D-6E8A-4147-A177-3AD203B41FA5}">
                      <a16:colId xmlns:a16="http://schemas.microsoft.com/office/drawing/2014/main" val="755374938"/>
                    </a:ext>
                  </a:extLst>
                </a:gridCol>
                <a:gridCol w="1561324">
                  <a:extLst>
                    <a:ext uri="{9D8B030D-6E8A-4147-A177-3AD203B41FA5}">
                      <a16:colId xmlns:a16="http://schemas.microsoft.com/office/drawing/2014/main" val="324065482"/>
                    </a:ext>
                  </a:extLst>
                </a:gridCol>
                <a:gridCol w="1561324">
                  <a:extLst>
                    <a:ext uri="{9D8B030D-6E8A-4147-A177-3AD203B41FA5}">
                      <a16:colId xmlns:a16="http://schemas.microsoft.com/office/drawing/2014/main" val="279631639"/>
                    </a:ext>
                  </a:extLst>
                </a:gridCol>
                <a:gridCol w="1561324">
                  <a:extLst>
                    <a:ext uri="{9D8B030D-6E8A-4147-A177-3AD203B41FA5}">
                      <a16:colId xmlns:a16="http://schemas.microsoft.com/office/drawing/2014/main" val="1606047943"/>
                    </a:ext>
                  </a:extLst>
                </a:gridCol>
                <a:gridCol w="1561324">
                  <a:extLst>
                    <a:ext uri="{9D8B030D-6E8A-4147-A177-3AD203B41FA5}">
                      <a16:colId xmlns:a16="http://schemas.microsoft.com/office/drawing/2014/main" val="1565515183"/>
                    </a:ext>
                  </a:extLst>
                </a:gridCol>
              </a:tblGrid>
              <a:tr h="5484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Exp.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X₁ (Temp.)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X₂ (Tempo)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X₃ (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NaClO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Temperatura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(°C)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 (min)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NaClO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(mL)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823947"/>
                  </a:ext>
                </a:extLst>
              </a:tr>
              <a:tr h="30647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97730"/>
                  </a:ext>
                </a:extLst>
              </a:tr>
              <a:tr h="30647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132996"/>
                  </a:ext>
                </a:extLst>
              </a:tr>
              <a:tr h="30647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396934"/>
                  </a:ext>
                </a:extLst>
              </a:tr>
              <a:tr h="30647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150810"/>
                  </a:ext>
                </a:extLst>
              </a:tr>
              <a:tr h="30647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683657"/>
                  </a:ext>
                </a:extLst>
              </a:tr>
              <a:tr h="30647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297495"/>
                  </a:ext>
                </a:extLst>
              </a:tr>
              <a:tr h="30647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44213"/>
                  </a:ext>
                </a:extLst>
              </a:tr>
              <a:tr h="30647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562639"/>
                  </a:ext>
                </a:extLst>
              </a:tr>
              <a:tr h="30647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246553"/>
                  </a:ext>
                </a:extLst>
              </a:tr>
              <a:tr h="30647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234293"/>
                  </a:ext>
                </a:extLst>
              </a:tr>
              <a:tr h="30647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347826"/>
                  </a:ext>
                </a:extLst>
              </a:tr>
              <a:tr h="30647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389289"/>
                  </a:ext>
                </a:extLst>
              </a:tr>
              <a:tr h="30647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6693772"/>
                  </a:ext>
                </a:extLst>
              </a:tr>
              <a:tr h="30647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0999719"/>
                  </a:ext>
                </a:extLst>
              </a:tr>
              <a:tr h="30647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4945" marR="64945" marT="32473" marB="32473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386776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B0A2CFB5-78D9-A162-52EF-849413E02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336" y="6197479"/>
            <a:ext cx="51670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nível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baixo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nível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central ,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nível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alto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50BE6A5-16C3-0D23-532E-09C9503FF1DE}"/>
              </a:ext>
            </a:extLst>
          </p:cNvPr>
          <p:cNvSpPr txBox="1"/>
          <p:nvPr/>
        </p:nvSpPr>
        <p:spPr>
          <a:xfrm>
            <a:off x="4020457" y="197423"/>
            <a:ext cx="3889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Box–</a:t>
            </a:r>
            <a:r>
              <a:rPr lang="pt-BR" b="1" dirty="0" err="1"/>
              <a:t>Behnken</a:t>
            </a:r>
            <a:r>
              <a:rPr lang="pt-BR" b="1" dirty="0"/>
              <a:t> design</a:t>
            </a:r>
            <a:r>
              <a:rPr lang="pt-BR" dirty="0"/>
              <a:t> com 3 fatores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768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400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Box-Behnken Plan Illustration</a:t>
            </a:r>
          </a:p>
        </p:txBody>
      </p:sp>
      <p:pic>
        <p:nvPicPr>
          <p:cNvPr id="4" name="Espace réservé du contenu 3" descr="Une image contenant texte, nombre, capture d’écran, Police&#10;&#10;Description générée automatiquement">
            <a:extLst>
              <a:ext uri="{FF2B5EF4-FFF2-40B4-BE49-F238E27FC236}">
                <a16:creationId xmlns:a16="http://schemas.microsoft.com/office/drawing/2014/main" id="{132AD556-5812-EF04-F178-7878F06E98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15885"/>
            <a:ext cx="10019542" cy="5610943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66CD094-D4C6-CA98-2E0E-771B63F86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0C16641-03E3-EE8E-893E-93CE505E1EAA}"/>
              </a:ext>
            </a:extLst>
          </p:cNvPr>
          <p:cNvSpPr txBox="1"/>
          <p:nvPr/>
        </p:nvSpPr>
        <p:spPr>
          <a:xfrm>
            <a:off x="4091087" y="167185"/>
            <a:ext cx="452559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Ilustração</a:t>
            </a:r>
            <a:r>
              <a:rPr lang="en-US" sz="25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do Plano Box-Behnken</a:t>
            </a:r>
            <a:endParaRPr lang="en-US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E461D57-019D-B398-569B-0D82A9C1F7A0}"/>
              </a:ext>
            </a:extLst>
          </p:cNvPr>
          <p:cNvSpPr/>
          <p:nvPr/>
        </p:nvSpPr>
        <p:spPr>
          <a:xfrm>
            <a:off x="7789622" y="911247"/>
            <a:ext cx="3068120" cy="477055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4C73497-9694-4335-C0FD-4446CC55E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B3054-4A04-4E1C-948E-3672C20125F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21DB42E-76B8-F635-188E-A5DB9DB343C2}"/>
              </a:ext>
            </a:extLst>
          </p:cNvPr>
          <p:cNvSpPr txBox="1"/>
          <p:nvPr/>
        </p:nvSpPr>
        <p:spPr>
          <a:xfrm>
            <a:off x="0" y="0"/>
            <a:ext cx="43641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RESULTADOS:TCNF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676AB00-B7D8-62F5-A383-ADD4FF0CB86B}"/>
              </a:ext>
            </a:extLst>
          </p:cNvPr>
          <p:cNvSpPr txBox="1"/>
          <p:nvPr/>
        </p:nvSpPr>
        <p:spPr>
          <a:xfrm>
            <a:off x="217715" y="679903"/>
            <a:ext cx="5226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1</a:t>
            </a:r>
            <a:r>
              <a:rPr lang="pt-BR" sz="18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.Espectroscopia no Infravermelho- </a:t>
            </a:r>
            <a:r>
              <a:rPr lang="pt-BR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FTIR-ATR</a:t>
            </a:r>
            <a:r>
              <a:rPr lang="pt-BR" sz="18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 </a:t>
            </a:r>
            <a:endParaRPr lang="en-US" dirty="0"/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8BE7CCD1-37A3-62B5-6A45-759254953379}"/>
              </a:ext>
            </a:extLst>
          </p:cNvPr>
          <p:cNvGrpSpPr/>
          <p:nvPr/>
        </p:nvGrpSpPr>
        <p:grpSpPr>
          <a:xfrm>
            <a:off x="152400" y="1302271"/>
            <a:ext cx="10372732" cy="5412854"/>
            <a:chOff x="5665554" y="460443"/>
            <a:chExt cx="4601632" cy="2909283"/>
          </a:xfrm>
        </p:grpSpPr>
        <p:pic>
          <p:nvPicPr>
            <p:cNvPr id="27" name="Imagem 26" descr="Gráfico, Gráfico de linhas&#10;&#10;Descrição gerada automaticamente">
              <a:extLst>
                <a:ext uri="{FF2B5EF4-FFF2-40B4-BE49-F238E27FC236}">
                  <a16:creationId xmlns:a16="http://schemas.microsoft.com/office/drawing/2014/main" id="{6E7C7C24-80E7-B1BF-4045-CF932FC314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633" t="9213" r="11633" b="2693"/>
            <a:stretch/>
          </p:blipFill>
          <p:spPr>
            <a:xfrm>
              <a:off x="5665554" y="460443"/>
              <a:ext cx="4601632" cy="2909283"/>
            </a:xfrm>
            <a:prstGeom prst="rect">
              <a:avLst/>
            </a:prstGeom>
          </p:spPr>
        </p:pic>
        <p:sp>
          <p:nvSpPr>
            <p:cNvPr id="29" name="Retângulo 28">
              <a:extLst>
                <a:ext uri="{FF2B5EF4-FFF2-40B4-BE49-F238E27FC236}">
                  <a16:creationId xmlns:a16="http://schemas.microsoft.com/office/drawing/2014/main" id="{747D903C-5583-23D7-5B76-042E98A3DBE3}"/>
                </a:ext>
              </a:extLst>
            </p:cNvPr>
            <p:cNvSpPr/>
            <p:nvPr/>
          </p:nvSpPr>
          <p:spPr>
            <a:xfrm>
              <a:off x="7200900" y="631886"/>
              <a:ext cx="350520" cy="1547434"/>
            </a:xfrm>
            <a:prstGeom prst="rect">
              <a:avLst/>
            </a:prstGeom>
            <a:noFill/>
            <a:ln w="57150"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8065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4C73497-9694-4335-C0FD-4446CC55E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B3054-4A04-4E1C-948E-3672C20125FB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536EF6D-803F-C6DE-8345-C137ACF06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374" y="923575"/>
            <a:ext cx="7306126" cy="566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04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4C73497-9694-4335-C0FD-4446CC55E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B3054-4A04-4E1C-948E-3672C20125F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6DB8E8-3659-E5E6-4A87-4D00E2F00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035" y="1361916"/>
            <a:ext cx="10785021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Extração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resposta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espectral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cada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réplica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espectro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FTIR,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extrair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intensidade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banda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aproximadamente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1600 cm⁻¹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utilizando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parâmetros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como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altura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pico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área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integrada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pico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intensidade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normalizada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conforme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critério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analítico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adotado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Cálculo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média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 do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desvio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padrão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Calcular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média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aritmética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 o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desvio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padrão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das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respostas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obtidas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para as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10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réplicas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cada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condição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experimental,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fim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avaliar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tendência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central e a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variabilidade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dos dados.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Análise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variância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(ANOVA)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Realizar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ANOVA para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verificar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significância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estatística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dos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fatores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estudados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temperatura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tempo e volume de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NaClO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 de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suas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interações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sobre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resposta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FTIR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Construção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das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superfícies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resposta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Construir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gráficos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superfície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resposta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gráficos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contorno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para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visualizar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efeitos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individuais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combinados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das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variáveis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independentes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permitindo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identificar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condição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experimental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ótima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para a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funcionalização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do TCNF.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8A531CF-5F9C-4D07-14CD-35B29156455A}"/>
              </a:ext>
            </a:extLst>
          </p:cNvPr>
          <p:cNvSpPr txBox="1"/>
          <p:nvPr/>
        </p:nvSpPr>
        <p:spPr>
          <a:xfrm>
            <a:off x="3889829" y="638629"/>
            <a:ext cx="314406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PRÓXIMOS PASOS: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968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4C73497-9694-4335-C0FD-4446CC55E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B3054-4A04-4E1C-948E-3672C20125F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21DB42E-76B8-F635-188E-A5DB9DB343C2}"/>
              </a:ext>
            </a:extLst>
          </p:cNvPr>
          <p:cNvSpPr txBox="1"/>
          <p:nvPr/>
        </p:nvSpPr>
        <p:spPr>
          <a:xfrm>
            <a:off x="4248150" y="3113529"/>
            <a:ext cx="398145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Muito Obrigado!</a:t>
            </a:r>
            <a:endParaRPr 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9848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7993</TotalTime>
  <Words>522</Words>
  <Application>Microsoft Office PowerPoint</Application>
  <PresentationFormat>Widescreen</PresentationFormat>
  <Paragraphs>155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Tema do Office</vt:lpstr>
      <vt:lpstr>Apresentação do PowerPoint</vt:lpstr>
      <vt:lpstr>Apresentação do PowerPoint</vt:lpstr>
      <vt:lpstr>Por que o design Box-Behnken?</vt:lpstr>
      <vt:lpstr>Apresentação do PowerPoint</vt:lpstr>
      <vt:lpstr>Box-Behnken Plan Illustration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Mario Carbajal</dc:creator>
  <cp:lastModifiedBy>Mario Carbajal</cp:lastModifiedBy>
  <cp:revision>328</cp:revision>
  <dcterms:created xsi:type="dcterms:W3CDTF">2026-03-26T23:05:08Z</dcterms:created>
  <dcterms:modified xsi:type="dcterms:W3CDTF">2026-05-02T16:18:51Z</dcterms:modified>
</cp:coreProperties>
</file>